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12"/>
  </p:normalViewPr>
  <p:slideViewPr>
    <p:cSldViewPr snapToGrid="0">
      <p:cViewPr varScale="1">
        <p:scale>
          <a:sx n="102" d="100"/>
          <a:sy n="102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F907-561A-CED2-3AEB-C59EA2DC1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F2D27-B6E0-D915-9362-8E883F9F2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0F9B1-1724-D9E3-A77B-72856284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811A-B8A7-8D6C-9942-3EC54065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F5139-85C6-2171-573A-E2298049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8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821F-EC4A-1F1C-A90A-BCA0F318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33615-F041-8ECF-DE1C-E691E115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44518-B149-1761-5673-ED9A646C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9F51-C55F-281A-88CB-A2C96C72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239A5-6D4A-81BC-4425-FF22D309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0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878D-8CA4-F3CC-75E6-EAFBD4D3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0AA45-FE0B-8DBE-D915-3E341F62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5CC17-797F-FA6D-202A-33CB9EFC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19A47-DD87-948B-09D8-23887A53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2E953-13FB-B24A-96B5-7B99C096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1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DDC2-6927-7C8F-25F1-2C0378BF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2A8E0-8B7B-E401-3221-BB4379A09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EFCBC-545E-D116-8581-BD05F5A82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D9F6C-46C2-854E-99AB-6A15F74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8A6AA-F4F3-4FBA-3EF5-7A529321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82F01-B806-A9EF-0CD4-B521630F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6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D449-3641-1612-07D2-48DED679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BC822-84EA-9C15-7347-F57CEF96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FA83E-0306-3122-E689-16490D681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160D9-D736-459F-A554-F4D132D55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93D2E-D71B-759E-8717-0DAB1F12E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8A995-ACA2-FDA0-5E27-299D49F3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4571B-FF59-84EF-3E61-5A347FFE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8C132-7022-A670-C9B3-B574B4DD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1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C8EF-74D7-8B04-433E-87BE0CD8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0628E-C46A-363E-F84F-A56B5F35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42417-3480-C343-36B6-0605272E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BEEBA-8EDA-BF29-1627-912282B0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7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93AD0-DF0D-A00D-E807-F3E05CA5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34221-8782-F854-C3DF-0AA76426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B7B55-5C76-44B4-CC85-3991FDDB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5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2EA4-DF72-0763-28D5-75942FDF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6ED7-9B11-5993-8C39-CC39996EC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24C52-5ABC-BE79-AE19-AA4824742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2E11D-9C4D-765E-B0FE-1FC3B1FA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7720C-DCA0-9AB6-3E2C-74DA5F9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FC77E-2273-2EDE-73A5-4F7DEB2F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2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B200-DFC7-7A86-51FF-34BF6663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C5C308-788F-5A41-C6D6-AF8B0434E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58DD3-E551-3379-6879-84994D08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170E-8CB8-8E39-8ADF-7BC0DD04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D025A-72F5-98A4-AD1B-0620A21B4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342BD-1C43-6259-175B-3C35DF9E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8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CC96-9E03-E1D5-E96B-5057B4A5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E923F-29D3-FAB9-07D9-86A2C3D54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AFB8-B725-713D-C330-58394754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BB6D7-11AD-5486-5BB5-7334D899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D0C88-8AD9-2842-1051-604B1AE6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0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8D8F0-3F45-BFFF-F5B8-66C2EA486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96A89-FF76-FC80-2E79-6F0F44A5B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EB458-7DF2-2B85-20DA-8BEA334B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709BF-292C-6D78-CA91-179F481C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445C0-12EC-9CC0-0DCD-7AB76521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9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715B5-5D58-BE99-E38D-2329AE32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2247-DE45-4CA5-3C94-4C15EBE1E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60C88-B37D-C9E4-427F-6EC5D0BEF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E63E5-BC06-6041-8E48-E54A1E2C54AD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3DF9-FF8D-8D13-4E2C-5AF210148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92817-A9CF-F12C-F710-CEEBB7993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3A8BA-00A1-8244-BEDE-3AABA7173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5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B77F-B369-7862-BA37-DCEBC4F3F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30AD6-33E4-B567-C264-B7651029B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40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76D51B4-752A-FE6F-1859-0D7C26FC96DD}"/>
              </a:ext>
            </a:extLst>
          </p:cNvPr>
          <p:cNvGrpSpPr/>
          <p:nvPr/>
        </p:nvGrpSpPr>
        <p:grpSpPr>
          <a:xfrm>
            <a:off x="1058333" y="800938"/>
            <a:ext cx="7434314" cy="4343034"/>
            <a:chOff x="1058333" y="800938"/>
            <a:chExt cx="7434314" cy="43430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915D981-CA8A-6666-CEF8-C45350070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058333" y="895793"/>
              <a:ext cx="7434314" cy="424817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988467D-4FE2-BC69-4EDB-AFCF350D9353}"/>
                    </a:ext>
                  </a:extLst>
                </p:cNvPr>
                <p:cNvSpPr txBox="1"/>
                <p:nvPr/>
              </p:nvSpPr>
              <p:spPr>
                <a:xfrm>
                  <a:off x="4030644" y="1085744"/>
                  <a:ext cx="1031465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1000" b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988467D-4FE2-BC69-4EDB-AFCF350D9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0644" y="1085744"/>
                  <a:ext cx="1031465" cy="24622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8E616BE-097C-6B00-912A-FE4B41CF4F9A}"/>
                    </a:ext>
                  </a:extLst>
                </p:cNvPr>
                <p:cNvSpPr txBox="1"/>
                <p:nvPr/>
              </p:nvSpPr>
              <p:spPr>
                <a:xfrm>
                  <a:off x="5459160" y="1087515"/>
                  <a:ext cx="1031465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1000" b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8E616BE-097C-6B00-912A-FE4B41CF4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9160" y="1087515"/>
                  <a:ext cx="1031465" cy="2462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B734D1-487F-6D7D-6088-1A31DA6056F9}"/>
                    </a:ext>
                  </a:extLst>
                </p:cNvPr>
                <p:cNvSpPr txBox="1"/>
                <p:nvPr/>
              </p:nvSpPr>
              <p:spPr>
                <a:xfrm>
                  <a:off x="1447979" y="3026578"/>
                  <a:ext cx="1031463" cy="2520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000" b="0" i="1" smtClean="0">
                            <a:latin typeface="Cambria Math" panose="02040503050406030204" pitchFamily="18" charset="0"/>
                          </a:rPr>
                          <m:t>ϕ</m:t>
                        </m:r>
                      </m:oMath>
                    </m:oMathPara>
                  </a14:m>
                  <a:endParaRPr lang="en-US" sz="1000" b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B734D1-487F-6D7D-6088-1A31DA605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979" y="3026578"/>
                  <a:ext cx="1031463" cy="2520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1EC3111-B851-2865-EA6A-4B8BE74F7AEB}"/>
                    </a:ext>
                  </a:extLst>
                </p:cNvPr>
                <p:cNvSpPr txBox="1"/>
                <p:nvPr/>
              </p:nvSpPr>
              <p:spPr>
                <a:xfrm>
                  <a:off x="2715535" y="3030077"/>
                  <a:ext cx="1031463" cy="2520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000" b="0" i="1" smtClean="0">
                            <a:latin typeface="Cambria Math" panose="02040503050406030204" pitchFamily="18" charset="0"/>
                          </a:rPr>
                          <m:t>ρ</m:t>
                        </m:r>
                      </m:oMath>
                    </m:oMathPara>
                  </a14:m>
                  <a:endParaRPr lang="en-US" sz="1000" b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1EC3111-B851-2865-EA6A-4B8BE74F7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535" y="3030077"/>
                  <a:ext cx="1031463" cy="25201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94DB3A3-4ECC-50ED-1D64-4A57B6503928}"/>
                    </a:ext>
                  </a:extLst>
                </p:cNvPr>
                <p:cNvSpPr txBox="1"/>
                <p:nvPr/>
              </p:nvSpPr>
              <p:spPr>
                <a:xfrm>
                  <a:off x="5468981" y="3018934"/>
                  <a:ext cx="1031464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1000" b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94DB3A3-4ECC-50ED-1D64-4A57B6503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8981" y="3018934"/>
                  <a:ext cx="1031464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C11BE1A-2AA3-7883-F581-06087DCD6D8D}"/>
                    </a:ext>
                  </a:extLst>
                </p:cNvPr>
                <p:cNvSpPr txBox="1"/>
                <p:nvPr/>
              </p:nvSpPr>
              <p:spPr>
                <a:xfrm>
                  <a:off x="6776675" y="3020289"/>
                  <a:ext cx="1031462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0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en-US" sz="1000" b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C11BE1A-2AA3-7883-F581-06087DCD6D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6675" y="3020289"/>
                  <a:ext cx="1031462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4A72119-DE34-F872-0E21-DE1C8D4F25FD}"/>
                    </a:ext>
                  </a:extLst>
                </p:cNvPr>
                <p:cNvSpPr txBox="1"/>
                <p:nvPr/>
              </p:nvSpPr>
              <p:spPr>
                <a:xfrm>
                  <a:off x="4038072" y="3028078"/>
                  <a:ext cx="1031462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4A72119-DE34-F872-0E21-DE1C8D4F2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072" y="3028078"/>
                  <a:ext cx="1031462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FB32F0-1E28-BBD4-3F31-FEF0DAA38C48}"/>
                    </a:ext>
                  </a:extLst>
                </p:cNvPr>
                <p:cNvSpPr txBox="1"/>
                <p:nvPr/>
              </p:nvSpPr>
              <p:spPr>
                <a:xfrm>
                  <a:off x="6776675" y="1088192"/>
                  <a:ext cx="1031462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FB32F0-1E28-BBD4-3F31-FEF0DAA38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6675" y="1088192"/>
                  <a:ext cx="1031462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6C0DEC-0550-B5B6-EF1A-406EAD719244}"/>
                </a:ext>
              </a:extLst>
            </p:cNvPr>
            <p:cNvSpPr txBox="1"/>
            <p:nvPr/>
          </p:nvSpPr>
          <p:spPr>
            <a:xfrm>
              <a:off x="1350866" y="800938"/>
              <a:ext cx="29738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Maximum Likelihood Estimates (95% CI)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9F04C3F-9FD0-70B6-779D-2B1B77C87FB5}"/>
                    </a:ext>
                  </a:extLst>
                </p:cNvPr>
                <p:cNvSpPr txBox="1"/>
                <p:nvPr/>
              </p:nvSpPr>
              <p:spPr>
                <a:xfrm>
                  <a:off x="1446141" y="1052335"/>
                  <a:ext cx="1031463" cy="2792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bSup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9F04C3F-9FD0-70B6-779D-2B1B77C87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141" y="1052335"/>
                  <a:ext cx="1031463" cy="27924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880A2E-AFD4-50FF-4653-BE4ADD608D59}"/>
                    </a:ext>
                  </a:extLst>
                </p:cNvPr>
                <p:cNvSpPr txBox="1"/>
                <p:nvPr/>
              </p:nvSpPr>
              <p:spPr>
                <a:xfrm>
                  <a:off x="2705715" y="1077954"/>
                  <a:ext cx="1036277" cy="2520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oMath>
                    </m:oMathPara>
                  </a14:m>
                  <a:endParaRPr lang="en-US" sz="1000" b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880A2E-AFD4-50FF-4653-BE4ADD608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5715" y="1077954"/>
                  <a:ext cx="1036277" cy="25201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0041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174342D-E1FE-3A6C-CD01-E884FA267BB8}"/>
              </a:ext>
            </a:extLst>
          </p:cNvPr>
          <p:cNvGrpSpPr/>
          <p:nvPr/>
        </p:nvGrpSpPr>
        <p:grpSpPr>
          <a:xfrm>
            <a:off x="603287" y="120596"/>
            <a:ext cx="7415656" cy="5937722"/>
            <a:chOff x="603287" y="120596"/>
            <a:chExt cx="7415656" cy="5937722"/>
          </a:xfrm>
        </p:grpSpPr>
        <p:pic>
          <p:nvPicPr>
            <p:cNvPr id="16" name="Picture 15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131ED019-F512-0B19-A59C-69B4E050D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9281" t="10073" r="3053" b="14632"/>
            <a:stretch/>
          </p:blipFill>
          <p:spPr>
            <a:xfrm>
              <a:off x="6871522" y="1882573"/>
              <a:ext cx="969255" cy="2753973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41DC8B-E752-6DA9-0768-371B73F36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33995" y="120596"/>
              <a:ext cx="5863771" cy="586377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B7E552-876E-F149-2B88-20B5539933F7}"/>
                </a:ext>
              </a:extLst>
            </p:cNvPr>
            <p:cNvSpPr txBox="1"/>
            <p:nvPr/>
          </p:nvSpPr>
          <p:spPr>
            <a:xfrm>
              <a:off x="1619652" y="5781319"/>
              <a:ext cx="24242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Resource Concentration (mg/L)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F70E50-9754-A569-EC07-F507E9C16085}"/>
                </a:ext>
              </a:extLst>
            </p:cNvPr>
            <p:cNvSpPr txBox="1"/>
            <p:nvPr/>
          </p:nvSpPr>
          <p:spPr>
            <a:xfrm>
              <a:off x="5085406" y="5781319"/>
              <a:ext cx="129387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Length (mm)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534EA4-1D29-81BD-C054-BA9F342DBDB5}"/>
                </a:ext>
              </a:extLst>
            </p:cNvPr>
            <p:cNvSpPr txBox="1"/>
            <p:nvPr/>
          </p:nvSpPr>
          <p:spPr>
            <a:xfrm rot="16200000">
              <a:off x="165547" y="998619"/>
              <a:ext cx="14168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Helvetica" pitchFamily="2" charset="0"/>
                </a:rPr>
                <a:t>Spores consumed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9F73D90-844C-FD5F-EF45-87A5C882ADF0}"/>
                    </a:ext>
                  </a:extLst>
                </p:cNvPr>
                <p:cNvSpPr txBox="1"/>
                <p:nvPr/>
              </p:nvSpPr>
              <p:spPr>
                <a:xfrm rot="16200000">
                  <a:off x="85015" y="2819623"/>
                  <a:ext cx="155976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Helvetica" pitchFamily="2" charset="0"/>
                    </a:rPr>
                    <a:t>Per-parasite</a:t>
                  </a:r>
                </a:p>
                <a:p>
                  <a:pPr algn="ctr"/>
                  <a:r>
                    <a:rPr lang="en-US" sz="1400" dirty="0">
                      <a:latin typeface="Helvetica" pitchFamily="2" charset="0"/>
                    </a:rPr>
                    <a:t>Susceptibility -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endParaRPr lang="en-US" sz="1400" dirty="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9F73D90-844C-FD5F-EF45-87A5C882A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85015" y="2819623"/>
                  <a:ext cx="1559763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381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7DA3B0-EE12-2535-91AD-B0F616A50BA5}"/>
                </a:ext>
              </a:extLst>
            </p:cNvPr>
            <p:cNvSpPr txBox="1"/>
            <p:nvPr/>
          </p:nvSpPr>
          <p:spPr>
            <a:xfrm rot="16200000">
              <a:off x="323619" y="4585996"/>
              <a:ext cx="110066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Helvetica" pitchFamily="2" charset="0"/>
                </a:rPr>
                <a:t>Infection </a:t>
              </a:r>
            </a:p>
            <a:p>
              <a:pPr algn="ctr"/>
              <a:r>
                <a:rPr lang="en-US" sz="1400" dirty="0">
                  <a:latin typeface="Helvetica" pitchFamily="2" charset="0"/>
                </a:rPr>
                <a:t>Prevalence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A17222-B45F-43CD-AF68-5CBA94E45DAE}"/>
                </a:ext>
              </a:extLst>
            </p:cNvPr>
            <p:cNvSpPr txBox="1"/>
            <p:nvPr/>
          </p:nvSpPr>
          <p:spPr>
            <a:xfrm>
              <a:off x="6822454" y="2083864"/>
              <a:ext cx="11964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Helvetica" pitchFamily="2" charset="0"/>
                </a:rPr>
                <a:t>Temp. (</a:t>
              </a:r>
              <a:r>
                <a:rPr lang="en-US" sz="1400" dirty="0">
                  <a:effectLst/>
                  <a:latin typeface="Calibri" panose="020F0502020204030204" pitchFamily="34" charset="0"/>
                  <a:ea typeface="Malgun Gothic" panose="020B0503020000020004" pitchFamily="34" charset="-127"/>
                </a:rPr>
                <a:t>°</a:t>
              </a:r>
              <a:r>
                <a:rPr lang="en-US" sz="1400" dirty="0">
                  <a:latin typeface="Helvetica" pitchFamily="2" charset="0"/>
                </a:rPr>
                <a:t>C)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F27B51-23C4-4A9F-6159-8EC34B798EC8}"/>
                </a:ext>
              </a:extLst>
            </p:cNvPr>
            <p:cNvSpPr txBox="1"/>
            <p:nvPr/>
          </p:nvSpPr>
          <p:spPr>
            <a:xfrm>
              <a:off x="6808524" y="3577459"/>
              <a:ext cx="96925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Helvetica" pitchFamily="2" charset="0"/>
                </a:rPr>
                <a:t>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03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46</Words>
  <Application>Microsoft Macintosh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Suh</dc:creator>
  <cp:lastModifiedBy>Daniel Suh</cp:lastModifiedBy>
  <cp:revision>6</cp:revision>
  <dcterms:created xsi:type="dcterms:W3CDTF">2025-03-20T16:58:37Z</dcterms:created>
  <dcterms:modified xsi:type="dcterms:W3CDTF">2025-06-06T17:34:56Z</dcterms:modified>
</cp:coreProperties>
</file>